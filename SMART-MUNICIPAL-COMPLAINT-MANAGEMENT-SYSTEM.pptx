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Space Grotesk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web-based platform connecting civic issue reporting with municipal administrative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project's purpose: technology in service of better communities.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A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13727"/>
            <a:ext cx="1153131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 TECHNOLOGY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3421578"/>
            <a:ext cx="10997925" cy="202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200" b="1" spc="-63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SMART MUNICIPAL</a:t>
            </a:r>
            <a:endParaRPr lang="en-US" sz="42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4200" b="1" spc="-63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COMPLAINT</a:t>
            </a:r>
            <a:endParaRPr lang="en-US" sz="42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4200" b="1" spc="-63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MANAGEMENT</a:t>
            </a:r>
            <a:endParaRPr lang="en-US" sz="42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4200" b="1" spc="-63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60383" y="5598279"/>
            <a:ext cx="1153131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web-based platform for civic issue reporting and administrative coordination.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0383" y="6123047"/>
            <a:ext cx="1153131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CENTRALISED REPORTING · MUNICIPAL ACTION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13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526A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28933"/>
            <a:ext cx="11124922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600" b="1" spc="-54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Challenge of Municipal Complaint Management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443236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30" y="1627386"/>
            <a:ext cx="228594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223651"/>
            <a:ext cx="548626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Citizens may struggle to identify the right reporting channel.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48244" y="1443236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389" y="1627386"/>
            <a:ext cx="228594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8244" y="2223651"/>
            <a:ext cx="548626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Complaint details can be incomplete or difficult to organise.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09585" y="3010297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3194447"/>
            <a:ext cx="228594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9585" y="3790712"/>
            <a:ext cx="548626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Issue locations may be hard to communicate accurately.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248244" y="3010297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389" y="3194447"/>
            <a:ext cx="228594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48244" y="3790712"/>
            <a:ext cx="548626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Administrators may spend extra time organising and assigning maintenance work.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09585" y="4637048"/>
            <a:ext cx="1112492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252B3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Design question: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How can citizens report civic issues more easily while helping administrators organise and assign the work required to address them?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75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526A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OPERATING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213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b="1" spc="-72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Platform. Two Principal Roles. A Clearer Workflow.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243237"/>
            <a:ext cx="5333867" cy="3295352"/>
          </a:xfrm>
          <a:prstGeom prst="roundRect">
            <a:avLst>
              <a:gd name="adj" fmla="val 347"/>
            </a:avLst>
          </a:prstGeom>
          <a:solidFill>
            <a:srgbClr val="526A82"/>
          </a:solidFill>
          <a:ln w="6350">
            <a:solidFill>
              <a:srgbClr val="8FA6B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26" y="2554387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1526" y="3193514"/>
            <a:ext cx="4609985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600" b="1" spc="-54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Citizen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971526" y="3813532"/>
            <a:ext cx="460998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Signs in, reports a municipal issue, supplies relevant information, and uses location functionality.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48244" y="2243237"/>
            <a:ext cx="5333867" cy="3295352"/>
          </a:xfrm>
          <a:prstGeom prst="roundRect">
            <a:avLst>
              <a:gd name="adj" fmla="val 347"/>
            </a:avLst>
          </a:prstGeom>
          <a:solidFill>
            <a:srgbClr val="14243A"/>
          </a:solidFill>
          <a:ln w="6350">
            <a:solidFill>
              <a:srgbClr val="8FA6B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185" y="2554387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10185" y="3193514"/>
            <a:ext cx="4609985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600" b="1" spc="-54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Municipal administration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610185" y="4247813"/>
            <a:ext cx="4609985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Reviews and manages reported issues through an interface intended for manual worker assignment.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09585" y="5750679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objective is an organised digital workflow from complaint submission to administrative action.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13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526A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READINESS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45125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b="1" spc="-72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Application Features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587996"/>
            <a:ext cx="3657509" cy="3749179"/>
          </a:xfrm>
          <a:custGeom>
            <a:avLst/>
            <a:gdLst/>
            <a:ahLst/>
            <a:cxnLst/>
            <a:rect l="l" t="t" r="r" b="b"/>
            <a:pathLst>
              <a:path w="3657509" h="3749179">
                <a:moveTo>
                  <a:pt x="9525" y="0"/>
                </a:moveTo>
                <a:lnTo>
                  <a:pt x="3657509" y="0"/>
                </a:lnTo>
                <a:lnTo>
                  <a:pt x="3657509" y="3749179"/>
                </a:lnTo>
                <a:lnTo>
                  <a:pt x="9525" y="3749179"/>
                </a:lnTo>
                <a:arcTo hR="9525" wR="9525" stAng="5400000" swAng="5400000"/>
                <a:lnTo>
                  <a:pt x="0" y="9525"/>
                </a:lnTo>
                <a:arcTo hR="9525" wR="9525" stAng="10800000" swAng="5400000"/>
                <a:close/>
              </a:path>
            </a:pathLst>
          </a:custGeom>
          <a:solidFill>
            <a:srgbClr val="8FA6B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5318125"/>
            <a:ext cx="3657509" cy="19050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1846124"/>
            <a:ext cx="34035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3578" y="2203569"/>
            <a:ext cx="3149521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Working foundation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3578" y="2595662"/>
            <a:ext cx="3149521" cy="2468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authentication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and developer credentials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Location retrieval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Automatic population of available user information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Complaint submission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67093" y="1587996"/>
            <a:ext cx="3657509" cy="3749179"/>
          </a:xfrm>
          <a:prstGeom prst="rect">
            <a:avLst/>
          </a:prstGeom>
          <a:solidFill>
            <a:srgbClr val="E7E8E6"/>
          </a:solidFill>
          <a:ln/>
        </p:spPr>
      </p:sp>
      <p:sp>
        <p:nvSpPr>
          <p:cNvPr id="10" name="Shape 8"/>
          <p:cNvSpPr/>
          <p:nvPr/>
        </p:nvSpPr>
        <p:spPr>
          <a:xfrm>
            <a:off x="4267093" y="5318125"/>
            <a:ext cx="3657509" cy="19050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11" name="Text 9"/>
          <p:cNvSpPr/>
          <p:nvPr/>
        </p:nvSpPr>
        <p:spPr>
          <a:xfrm>
            <a:off x="4521087" y="1846124"/>
            <a:ext cx="34035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1087" y="2203569"/>
            <a:ext cx="3149521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252B3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Role-specific interfaces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1087" y="2601377"/>
            <a:ext cx="314952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Role-specific interfaces and a municipal administration page.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24602" y="5318125"/>
            <a:ext cx="3657509" cy="19050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15" name="Text 13"/>
          <p:cNvSpPr/>
          <p:nvPr/>
        </p:nvSpPr>
        <p:spPr>
          <a:xfrm>
            <a:off x="8178595" y="1846124"/>
            <a:ext cx="340351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 DEVELOPMENT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78595" y="2203569"/>
            <a:ext cx="3149521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252B32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Manual worker assignment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78595" y="2866787"/>
            <a:ext cx="314952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Manual worker assignment functionality and further administration-page testing.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260743" y="1587996"/>
            <a:ext cx="12700" cy="3749179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19" name="Shape 17"/>
          <p:cNvSpPr/>
          <p:nvPr/>
        </p:nvSpPr>
        <p:spPr>
          <a:xfrm>
            <a:off x="7918252" y="1587996"/>
            <a:ext cx="12700" cy="3749179"/>
          </a:xfrm>
          <a:prstGeom prst="rect">
            <a:avLst/>
          </a:prstGeom>
          <a:solidFill>
            <a:srgbClr val="8FA6B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526A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975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b="1" spc="-72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From Civic Issue to Administrative Action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19437"/>
            <a:ext cx="10972526" cy="295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encounters a municipal problem.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signs in.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opens the complaint form.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provides complaint and location details.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submits the complaint.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Complaint enters the administrative workflow, subject to implemented backend functionality.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 reviews the issue and, where operational, manually assigns a worker.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8"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Responsible personnel carry out maintenance work outside the application's direct control.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5491420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Intended workflow; no claim of automated notifications, status updates, or end-to-end resolution tracking.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1424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975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b="1" spc="-72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Designed for Citizens and Administrators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19437"/>
            <a:ext cx="5333867" cy="1883172"/>
          </a:xfrm>
          <a:prstGeom prst="rect">
            <a:avLst/>
          </a:prstGeom>
          <a:solidFill>
            <a:srgbClr val="E7E8E6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602964"/>
            <a:ext cx="505447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INTERFACE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88978" y="2968982"/>
            <a:ext cx="477508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252B3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Complaint description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252B3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Location information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252B3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Available user information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252B3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Submission action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48244" y="2319437"/>
            <a:ext cx="5333867" cy="1883172"/>
          </a:xfrm>
          <a:prstGeom prst="rect">
            <a:avLst/>
          </a:prstGeom>
          <a:solidFill>
            <a:srgbClr val="526A82"/>
          </a:solidFill>
          <a:ln/>
        </p:spPr>
      </p:sp>
      <p:sp>
        <p:nvSpPr>
          <p:cNvPr id="8" name="Text 6"/>
          <p:cNvSpPr/>
          <p:nvPr/>
        </p:nvSpPr>
        <p:spPr>
          <a:xfrm>
            <a:off x="6527637" y="2602964"/>
            <a:ext cx="5054474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ADMINISTRATION INTERFACE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27637" y="2968982"/>
            <a:ext cx="477508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Conceptual complaint list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Job information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Worker selection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</a:t>
            </a:r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Assignment controls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4414699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Conceptual mockups only, not verified screenshots or live dashboard metrics.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0527"/>
            <a:ext cx="1168370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526A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87" y="794325"/>
            <a:ext cx="11175720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b="1" spc="-72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the Application Is Structured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87" y="1542911"/>
            <a:ext cx="111757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Conceptual architecture using generic component labels; no unverified framework, database, or hosting claims.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7987" y="2383532"/>
            <a:ext cx="2565336" cy="1856680"/>
          </a:xfrm>
          <a:prstGeom prst="rect">
            <a:avLst/>
          </a:prstGeom>
          <a:solidFill>
            <a:srgbClr val="14243A"/>
          </a:solidFill>
          <a:ln w="6350">
            <a:solidFill>
              <a:srgbClr val="8FA6B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31" y="2618482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931" y="3247449"/>
            <a:ext cx="2095448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Citizen or administrator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78115" y="2383532"/>
            <a:ext cx="2565336" cy="1856680"/>
          </a:xfrm>
          <a:prstGeom prst="rect">
            <a:avLst/>
          </a:prstGeom>
          <a:solidFill>
            <a:srgbClr val="14243A"/>
          </a:solidFill>
          <a:ln w="6350">
            <a:solidFill>
              <a:srgbClr val="8FA6B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060" y="2618482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3060" y="3247449"/>
            <a:ext cx="2095448" cy="53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Frontend web interface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6248244" y="2383532"/>
            <a:ext cx="2565336" cy="1856680"/>
          </a:xfrm>
          <a:prstGeom prst="rect">
            <a:avLst/>
          </a:prstGeom>
          <a:solidFill>
            <a:srgbClr val="14243A"/>
          </a:solidFill>
          <a:ln w="6350">
            <a:solidFill>
              <a:srgbClr val="8FA6B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188" y="2618482"/>
            <a:ext cx="457189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3188" y="3247449"/>
            <a:ext cx="2095448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Backend API and business logic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9118372" y="2383532"/>
            <a:ext cx="2565336" cy="1856680"/>
          </a:xfrm>
          <a:prstGeom prst="rect">
            <a:avLst/>
          </a:prstGeom>
          <a:solidFill>
            <a:srgbClr val="14243A"/>
          </a:solidFill>
          <a:ln w="6350">
            <a:solidFill>
              <a:srgbClr val="8FA6B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316" y="2618482"/>
            <a:ext cx="457189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53316" y="3247449"/>
            <a:ext cx="2095448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Database for persisted information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507987" y="4446588"/>
            <a:ext cx="5435464" cy="1850827"/>
          </a:xfrm>
          <a:prstGeom prst="roundRect">
            <a:avLst>
              <a:gd name="adj" fmla="val 618"/>
            </a:avLst>
          </a:prstGeom>
          <a:solidFill>
            <a:srgbClr val="EAE4D5"/>
          </a:solidFill>
          <a:ln/>
        </p:spPr>
      </p:sp>
      <p:sp>
        <p:nvSpPr>
          <p:cNvPr id="18" name="Text 12"/>
          <p:cNvSpPr/>
          <p:nvPr/>
        </p:nvSpPr>
        <p:spPr>
          <a:xfrm>
            <a:off x="812780" y="4679315"/>
            <a:ext cx="513067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1424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COMPONENT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12780" y="5036760"/>
            <a:ext cx="4825879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1424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Authentication and authorisation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812780" y="5434568"/>
            <a:ext cx="513067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Controls access for users and roles.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6248244" y="4446588"/>
            <a:ext cx="5435464" cy="1850827"/>
          </a:xfrm>
          <a:prstGeom prst="roundRect">
            <a:avLst>
              <a:gd name="adj" fmla="val 618"/>
            </a:avLst>
          </a:prstGeom>
          <a:solidFill>
            <a:srgbClr val="EAE4D5"/>
          </a:solidFill>
          <a:ln/>
        </p:spPr>
      </p:sp>
      <p:sp>
        <p:nvSpPr>
          <p:cNvPr id="22" name="Text 16"/>
          <p:cNvSpPr/>
          <p:nvPr/>
        </p:nvSpPr>
        <p:spPr>
          <a:xfrm>
            <a:off x="6553036" y="4679315"/>
            <a:ext cx="513067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1424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COMPONENT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553036" y="5036760"/>
            <a:ext cx="4825879" cy="265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2200" spc="-33" kern="100" dirty="0">
                <a:solidFill>
                  <a:srgbClr val="1424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Location functionality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553036" y="5434568"/>
            <a:ext cx="482587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Supports location information for reported issues.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08927"/>
            <a:ext cx="868658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526A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ADMINISTRATIVE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692725"/>
            <a:ext cx="8381790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b="1" spc="-72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Organising Civic Maintenance Work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189" y="2014637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34" y="2198787"/>
            <a:ext cx="228594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794417"/>
            <a:ext cx="396230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 reviews a complaint, identifies the relevant job.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76678" y="2014637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823" y="2198787"/>
            <a:ext cx="228594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76678" y="2794417"/>
            <a:ext cx="396230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 selects a suitable worker; manually assigns the task where functionality is operational.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57189" y="4099917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34" y="4284067"/>
            <a:ext cx="228594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189" y="4879697"/>
            <a:ext cx="3962301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 challenges: authentication, protected endpoints, location permissions, persistence, role-based access control, administration-page debugging.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876678" y="4099917"/>
            <a:ext cx="596885" cy="596900"/>
          </a:xfrm>
          <a:prstGeom prst="ellipse">
            <a:avLst/>
          </a:prstGeom>
          <a:solidFill>
            <a:srgbClr val="14243A"/>
          </a:solidFill>
          <a:ln w="12700">
            <a:solidFill>
              <a:srgbClr val="D0CAB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823" y="4284067"/>
            <a:ext cx="228594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76678" y="4879697"/>
            <a:ext cx="3962301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Complaint submission now works after an authentication-related bug was resolved; the administration page still requires further testing and debugging.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4641734" y="2014637"/>
            <a:ext cx="12700" cy="1856680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17" name="Shape 11"/>
          <p:cNvSpPr/>
          <p:nvPr/>
        </p:nvSpPr>
        <p:spPr>
          <a:xfrm>
            <a:off x="457189" y="3864967"/>
            <a:ext cx="4190895" cy="12700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18" name="Shape 12"/>
          <p:cNvSpPr/>
          <p:nvPr/>
        </p:nvSpPr>
        <p:spPr>
          <a:xfrm>
            <a:off x="4641734" y="3871317"/>
            <a:ext cx="12700" cy="2141141"/>
          </a:xfrm>
          <a:prstGeom prst="rect">
            <a:avLst/>
          </a:prstGeom>
          <a:solidFill>
            <a:srgbClr val="8FA6BA"/>
          </a:solidFill>
          <a:ln/>
        </p:spPr>
      </p:sp>
      <p:sp>
        <p:nvSpPr>
          <p:cNvPr id="19" name="Shape 13"/>
          <p:cNvSpPr/>
          <p:nvPr/>
        </p:nvSpPr>
        <p:spPr>
          <a:xfrm>
            <a:off x="4648084" y="3864967"/>
            <a:ext cx="4190895" cy="12700"/>
          </a:xfrm>
          <a:prstGeom prst="rect">
            <a:avLst/>
          </a:prstGeom>
          <a:solidFill>
            <a:srgbClr val="8FA6B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3727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526A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DIRECTION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97525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b="1" spc="-72" kern="100" dirty="0">
                <a:solidFill>
                  <a:srgbClr val="14243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Building Toward Better Civic Coordination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19437"/>
            <a:ext cx="5486263" cy="3071713"/>
          </a:xfrm>
          <a:prstGeom prst="rect">
            <a:avLst/>
          </a:prstGeom>
          <a:solidFill>
            <a:srgbClr val="526A82"/>
          </a:solidFill>
          <a:ln w="6350">
            <a:solidFill>
              <a:srgbClr val="8FA6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26" y="2634714"/>
            <a:ext cx="512432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POTENTIAL BENEFITS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1526" y="2995017"/>
            <a:ext cx="4762381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Centralised reporting, more structured information, and clearer locations.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more organised manual assignment workflow.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5848" y="2319437"/>
            <a:ext cx="5486263" cy="3071713"/>
          </a:xfrm>
          <a:prstGeom prst="rect">
            <a:avLst/>
          </a:prstGeom>
          <a:solidFill>
            <a:srgbClr val="14243A"/>
          </a:solidFill>
          <a:ln w="6350">
            <a:solidFill>
              <a:srgbClr val="8FA6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7788" y="2634714"/>
            <a:ext cx="5124322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PROPOSED IMPROVEMENTS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57788" y="2995017"/>
            <a:ext cx="4762381" cy="2034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Complaint status tracking, notifications, assignment history, and analytics.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Stronger validation and security testing; fuller worker management.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 with real municipal stakeholders.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5603240"/>
            <a:ext cx="11582110" cy="326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252B32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Direction:</a:t>
            </a:r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252B3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foundation that can improve through testing, user feedback, and further development.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3632200"/>
            <a:ext cx="6857828" cy="2336800"/>
          </a:xfrm>
          <a:prstGeom prst="rect">
            <a:avLst/>
          </a:prstGeom>
          <a:solidFill>
            <a:srgbClr val="14243A"/>
          </a:solidFill>
          <a:ln/>
        </p:spPr>
      </p:sp>
      <p:sp>
        <p:nvSpPr>
          <p:cNvPr id="3" name="Text 1"/>
          <p:cNvSpPr/>
          <p:nvPr/>
        </p:nvSpPr>
        <p:spPr>
          <a:xfrm>
            <a:off x="1346166" y="3797359"/>
            <a:ext cx="650223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156" kern="100" dirty="0">
                <a:solidFill>
                  <a:srgbClr val="1424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 TECHNOLOGY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46166" y="4222751"/>
            <a:ext cx="5892653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800" b="1" spc="-132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1346166" y="5468302"/>
            <a:ext cx="650223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Technology in Service of Better Communities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2026-10-09T20:21:16Z</dcterms:created>
  <dcterms:modified xsi:type="dcterms:W3CDTF">2026-10-09T20:21:16Z</dcterms:modified>
</cp:coreProperties>
</file>